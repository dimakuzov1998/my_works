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58" r:id="rId6"/>
    <p:sldId id="269" r:id="rId7"/>
    <p:sldId id="260" r:id="rId8"/>
    <p:sldId id="262" r:id="rId9"/>
    <p:sldId id="263" r:id="rId10"/>
    <p:sldId id="270" r:id="rId11"/>
    <p:sldId id="271" r:id="rId12"/>
    <p:sldId id="272" r:id="rId13"/>
    <p:sldId id="266" r:id="rId14"/>
    <p:sldId id="265" r:id="rId15"/>
    <p:sldId id="267" r:id="rId16"/>
    <p:sldId id="264" r:id="rId17"/>
    <p:sldId id="268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8" d="100"/>
          <a:sy n="88" d="100"/>
        </p:scale>
        <p:origin x="91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7B902F-D9AB-4832-A9B6-824248E8C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7ABD9A-CFD3-464C-AE0D-6C3263552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1DA59E-B497-483B-B7B6-132C926AA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2F6CD6-09EE-484D-8694-AB322708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667EAF-2190-46E0-8DF8-E03280B7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15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D166F-C19F-401F-A3E4-B87043E0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2C1DB5-01A6-4F5E-B723-00D615047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6FCB16-EA7C-4788-8FA5-B3F94DE27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F023CE-7341-4D90-B3F1-00967A31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479C2-4CCC-4800-A6B3-A8FD6CA3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70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B5EFD-B4E9-4FE1-885A-A110751A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E70F9E-BAA9-456F-BC70-A8EADEA9B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882325-5897-42DB-8A13-2AD621DC0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75557D-8CDA-4651-B621-1144A369E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845AA9-ACAA-4C50-9BE6-CD3F2305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13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B7416-FC5C-4678-B12A-4AC6F5F8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05FEE5-F408-40FC-AC4A-C1BCDAD3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36C5C5-F4F6-4437-AEC1-230F6F18B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B0686D-9A07-44C9-9C43-F6C6C333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7553A3-996A-4B7D-A862-17318B8D3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8FB499-E766-4A00-8F37-64738C42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81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76C2F4-C317-4083-A8F5-AAC89CA39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84DE9D-EDB5-4433-A8B0-BF2E5A148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B82E1E-4D6F-4DDA-9764-AF92F08B5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ACAD40F-1183-43D5-902E-90934531C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F624A3-17FE-4943-B3DF-08BC19CF3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EC6B3F6-C7DF-4C2C-8AF9-28B2FEB25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E80B9A6-F415-41C0-B09B-886C4B96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155E160-C0CC-4492-9DCD-1C4D99AC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229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69675-440D-484A-9D1F-A87311C66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353F37E-F1CA-45E1-BA1B-EC825AFF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2C11E9-07F7-44D1-8015-10F78CDC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A50B9C-FB07-4582-AE35-474CB076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357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153537A-4DDB-4A18-90C2-434D5585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6E2A9AC-C246-48B0-8FE4-C858BA439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E443A7-96AC-4F4F-9CA7-CD85B0FE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495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C83A0-1086-44FD-9042-650A8B720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B8F4A8-91AA-4025-A2C1-C2E9DD797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630AEB-726C-4EAC-947F-AB9695F86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015B8E-C345-42FF-9BED-3B192AD7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116EDC-B4BA-4521-B42C-A6355578D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B0DEDD-9E35-4008-A7D5-7D80B1DE3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50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D4A6BD-BECC-434E-85C3-1448DF61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E3D8CDD-0369-4C7B-A6FB-187E4805B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2E7142-B10A-470B-BD85-B375EAF77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5CC9B2-9140-4A3E-9830-491A76F5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038B87-4498-4FB7-B928-BF1D3E34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7614FA-D07B-4A6E-87CB-5146EB77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80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C9A69-06D5-4299-AF63-9C0916D8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E9000F-6547-4C29-9118-48FF8B396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41CB8-9580-476A-9F6F-AA1665F5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5DF828-2D22-43E7-8D9D-A8C1412FB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74FA75-5625-4FCA-BCDF-1A33F694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527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1CEE223-89E5-4C25-8191-64EEE6721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406E69-AB69-4FB8-8778-9BA9DCA41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4BED4C-BAE2-4A51-82D0-3322DB6AD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1D4AA5-6D27-4D24-BFB0-CFA380A26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5999C7-2A72-47E7-A1D6-F8D624E0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025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39CBE-FBE0-4CF1-8B77-D3B99EF3F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798F65-BB06-4750-9B88-4A81225FA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3A2CA1-40C0-466C-8913-FEA3970A76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665BA-F5E5-4FCE-850E-578709081273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57C383-3E42-43EE-9DA8-E6E3AC2B3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41E346-95B6-404B-878D-8BD5E99BF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0D3B8-7910-4C92-81DF-334FA5B206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28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E081E-4D29-49AA-9C45-5F6F0D804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выбросов в значениях OTS E-</a:t>
            </a:r>
            <a:r>
              <a:rPr lang="ru-R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брендов в произвольной</a:t>
            </a:r>
            <a:b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отчетной категории проекта </a:t>
            </a:r>
            <a:r>
              <a:rPr lang="ru-R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SoS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463ACC-7AD1-4785-A340-E0BAF7DADC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633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B6984-FCE1-4BAB-AB21-0A9D2452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0207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425C7-0522-4D88-B909-289BE5331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332"/>
            <a:ext cx="10515600" cy="476163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улучшения продукта по анализу поисковых запросов по брендам, требуется оценка пороговых значений по охватам и числу поисковых запросов для брендов с учетом новых категорий и нового источника данных, а также анализ аномальных значений отдельных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панелистов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решение по работе с ними.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решения задачи требуется: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уровень значимости для каждого бренда в разрезе имеющихся категорий;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производится на месячных данных с оценкой уровня значимости по среднему месяцу с учётом возможных колебаний значений за все периоды (от 0 и выше);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числа и значений аномальных показателей отдельных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панелистов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отдельным брендам и решение по работе с ними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1266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81D07-9C30-4123-819B-89685A7B3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Медианный метод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CE79BD13-18AC-415B-A430-CB63F8407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4257"/>
            <a:ext cx="10515600" cy="5125251"/>
          </a:xfrm>
        </p:spPr>
        <p:txBody>
          <a:bodyPr>
            <a:normAutofit fontScale="92500"/>
          </a:bodyPr>
          <a:lstStyle/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Sabyasachi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Basu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Martin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Meckesheimer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2007. Automatic outlier detection for time series: an application to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data. Knowledge and Information Systems, 11, 2, 137–154.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События, близкие по времени, более коррелируют друг с другом, чем те, между которыми большой временной интервал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Используются медиана из окрестности точки данных и пороговое значение для сравнения разницы между медианой и наблюдаемым значением данных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Хорошо работает на многих наборах реальных данных, что объясняется тем, что доля аномалий экстремальных значений выше в реальных данных, чем в сгенерированных (см.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Sebastian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Schmidl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Phillip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Wenig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Thorsten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Papenbrock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Anomaly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in Time Series: A Comprehensive Evaluation. PVLDB, 15(9): 1779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- 1797, 2022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40480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81D07-9C30-4123-819B-89685A7B3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1181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Иллюстрация медианного метода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99364FB-6FF6-4278-A854-EA02F4895C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183150"/>
              </p:ext>
            </p:extLst>
          </p:nvPr>
        </p:nvGraphicFramePr>
        <p:xfrm>
          <a:off x="1631343" y="1439187"/>
          <a:ext cx="8697400" cy="4903656"/>
        </p:xfrm>
        <a:graphic>
          <a:graphicData uri="http://schemas.openxmlformats.org/drawingml/2006/table">
            <a:tbl>
              <a:tblPr/>
              <a:tblGrid>
                <a:gridCol w="746158">
                  <a:extLst>
                    <a:ext uri="{9D8B030D-6E8A-4147-A177-3AD203B41FA5}">
                      <a16:colId xmlns:a16="http://schemas.microsoft.com/office/drawing/2014/main" val="2915870042"/>
                    </a:ext>
                  </a:extLst>
                </a:gridCol>
                <a:gridCol w="1422363">
                  <a:extLst>
                    <a:ext uri="{9D8B030D-6E8A-4147-A177-3AD203B41FA5}">
                      <a16:colId xmlns:a16="http://schemas.microsoft.com/office/drawing/2014/main" val="2380942070"/>
                    </a:ext>
                  </a:extLst>
                </a:gridCol>
                <a:gridCol w="932697">
                  <a:extLst>
                    <a:ext uri="{9D8B030D-6E8A-4147-A177-3AD203B41FA5}">
                      <a16:colId xmlns:a16="http://schemas.microsoft.com/office/drawing/2014/main" val="452488395"/>
                    </a:ext>
                  </a:extLst>
                </a:gridCol>
                <a:gridCol w="932697">
                  <a:extLst>
                    <a:ext uri="{9D8B030D-6E8A-4147-A177-3AD203B41FA5}">
                      <a16:colId xmlns:a16="http://schemas.microsoft.com/office/drawing/2014/main" val="3395956401"/>
                    </a:ext>
                  </a:extLst>
                </a:gridCol>
                <a:gridCol w="932697">
                  <a:extLst>
                    <a:ext uri="{9D8B030D-6E8A-4147-A177-3AD203B41FA5}">
                      <a16:colId xmlns:a16="http://schemas.microsoft.com/office/drawing/2014/main" val="1536672702"/>
                    </a:ext>
                  </a:extLst>
                </a:gridCol>
                <a:gridCol w="932697">
                  <a:extLst>
                    <a:ext uri="{9D8B030D-6E8A-4147-A177-3AD203B41FA5}">
                      <a16:colId xmlns:a16="http://schemas.microsoft.com/office/drawing/2014/main" val="1449381661"/>
                    </a:ext>
                  </a:extLst>
                </a:gridCol>
                <a:gridCol w="932697">
                  <a:extLst>
                    <a:ext uri="{9D8B030D-6E8A-4147-A177-3AD203B41FA5}">
                      <a16:colId xmlns:a16="http://schemas.microsoft.com/office/drawing/2014/main" val="2536929108"/>
                    </a:ext>
                  </a:extLst>
                </a:gridCol>
                <a:gridCol w="932697">
                  <a:extLst>
                    <a:ext uri="{9D8B030D-6E8A-4147-A177-3AD203B41FA5}">
                      <a16:colId xmlns:a16="http://schemas.microsoft.com/office/drawing/2014/main" val="2809695739"/>
                    </a:ext>
                  </a:extLst>
                </a:gridCol>
                <a:gridCol w="932697">
                  <a:extLst>
                    <a:ext uri="{9D8B030D-6E8A-4147-A177-3AD203B41FA5}">
                      <a16:colId xmlns:a16="http://schemas.microsoft.com/office/drawing/2014/main" val="3637308731"/>
                    </a:ext>
                  </a:extLst>
                </a:gridCol>
              </a:tblGrid>
              <a:tr h="271833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Выборка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404822"/>
                  </a:ext>
                </a:extLst>
              </a:tr>
              <a:tr h="231584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423331"/>
                  </a:ext>
                </a:extLst>
              </a:tr>
              <a:tr h="271833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Медиана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890611"/>
                  </a:ext>
                </a:extLst>
              </a:tr>
              <a:tr h="231584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244781"/>
                  </a:ext>
                </a:extLst>
              </a:tr>
              <a:tr h="271833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разности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870708"/>
                  </a:ext>
                </a:extLst>
              </a:tr>
              <a:tr h="231584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13680"/>
                  </a:ext>
                </a:extLst>
              </a:tr>
              <a:tr h="27183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2918956"/>
                  </a:ext>
                </a:extLst>
              </a:tr>
              <a:tr h="231584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756726"/>
                  </a:ext>
                </a:extLst>
              </a:tr>
              <a:tr h="271833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Множитель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595927"/>
                  </a:ext>
                </a:extLst>
              </a:tr>
              <a:tr h="231584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82289"/>
                  </a:ext>
                </a:extLst>
              </a:tr>
              <a:tr h="271833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Сравнение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708097"/>
                  </a:ext>
                </a:extLst>
              </a:tr>
              <a:tr h="271833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медианой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167734"/>
                  </a:ext>
                </a:extLst>
              </a:tr>
              <a:tr h="231584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660188"/>
                  </a:ext>
                </a:extLst>
              </a:tr>
              <a:tr h="231584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90633"/>
                  </a:ext>
                </a:extLst>
              </a:tr>
              <a:tr h="271833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Сравнение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996890"/>
                  </a:ext>
                </a:extLst>
              </a:tr>
              <a:tr h="271833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t*MAD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735301"/>
                  </a:ext>
                </a:extLst>
              </a:tr>
              <a:tr h="231584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497992"/>
                  </a:ext>
                </a:extLst>
              </a:tr>
              <a:tr h="231584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6309946"/>
                  </a:ext>
                </a:extLst>
              </a:tr>
              <a:tr h="271833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Выброс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894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90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C85E2-A480-44CE-AA01-D3852C878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889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5FE231-47D8-48DA-B6CC-94F25C1D23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2796"/>
                <a:ext cx="10515600" cy="4802587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множество всех респондентов в рассматриваемый период. Если респондент не попал в отчетную выборку какого-либо дня, полагаем его поисковую активность равной нулю.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множество брендов некоторой категории, которые соответствуют условиям значимости бренда. </a:t>
                </a:r>
              </a:p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Дни рассматриваемого периода, как правило одного месяца, индексируем через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число запросов респондента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бренда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день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вес респондента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день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Рассматриваем только те значения бренда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день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для которых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nary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Пусть число таких дней -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5FE231-47D8-48DA-B6CC-94F25C1D2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2796"/>
                <a:ext cx="10515600" cy="4802587"/>
              </a:xfrm>
              <a:blipFill>
                <a:blip r:embed="rId2"/>
                <a:stretch>
                  <a:fillRect l="-928" t="-2922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874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B353A-9A74-43C9-8D40-BD7E22B3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 значимости бренда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4B9B5F-CF89-4C8C-9769-859B2B22E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определения бренда как значимого необходимо, чтобы за период в 3 месяца (текущий месяц и два месяца ранее) выполнялись следующие условия: </a:t>
            </a:r>
          </a:p>
          <a:p>
            <a:pPr algn="just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взвешенное количество запросов (OTS) было больше или равно 20 000 хотя бы в одном месяце 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</a:p>
          <a:p>
            <a:pPr algn="just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выборки был больше или равен 6 респондентам хотя бы в одном месяце за рассматриваемый период.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брендов в условиях отличия от 0 их OTS значений за месяц используются среднемесячные веса респондентов.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96474-841C-46AE-8133-B49AB37C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684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Математическое описание алгоритма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F74F20-777F-471A-9745-90A559AB1C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4062" y="1439187"/>
                <a:ext cx="11123875" cy="4769582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𝑊𝑖𝑛𝑑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размер окна для бренда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множество окон для бренда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каждое окно состоит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𝑊𝑖𝑛𝑑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последовательных дней с ненулевым числом запросов бренда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𝑜𝑡𝑠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𝑜𝑡𝑠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𝑚𝑒𝑑𝑖𝑎𝑛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𝑙𝑗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𝑜𝑡𝑠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𝑙𝑗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𝑀𝐴𝐷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𝑚𝑒𝑑𝑖𝑎𝑛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𝑙𝑗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𝑜𝑡𝑠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𝑙𝑗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𝑀𝐴𝐷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и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𝑜𝑡𝑠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𝑙𝑗</m:t>
                                </m:r>
                              </m:sub>
                            </m:sSub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в остальных случаях</m:t>
                            </m:r>
                          </m:e>
                        </m:eqArr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некоторый пороговый коэффициент для рассматриваемой категории.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∈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  <m:sup/>
                      <m:e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𝑙𝑘</m:t>
                            </m:r>
                          </m:sup>
                        </m:sSubSup>
                      </m:e>
                    </m:nary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Поисковая активность респондента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бренда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день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признается выбросом,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&lt;−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𝑊𝑖𝑛𝑑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F74F20-777F-471A-9745-90A559AB1C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4062" y="1439187"/>
                <a:ext cx="11123875" cy="4769582"/>
              </a:xfrm>
              <a:blipFill>
                <a:blip r:embed="rId2"/>
                <a:stretch>
                  <a:fillRect l="-493" t="-19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7162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625A53-3270-479C-8A01-295E2AF30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работы алгоритма на данных</a:t>
            </a: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F4462A2E-8F1F-4457-B48B-3E55CBEF48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203586"/>
              </p:ext>
            </p:extLst>
          </p:nvPr>
        </p:nvGraphicFramePr>
        <p:xfrm>
          <a:off x="492981" y="1375575"/>
          <a:ext cx="11251098" cy="5033175"/>
        </p:xfrm>
        <a:graphic>
          <a:graphicData uri="http://schemas.openxmlformats.org/drawingml/2006/table">
            <a:tbl>
              <a:tblPr/>
              <a:tblGrid>
                <a:gridCol w="502375">
                  <a:extLst>
                    <a:ext uri="{9D8B030D-6E8A-4147-A177-3AD203B41FA5}">
                      <a16:colId xmlns:a16="http://schemas.microsoft.com/office/drawing/2014/main" val="3873909109"/>
                    </a:ext>
                  </a:extLst>
                </a:gridCol>
                <a:gridCol w="743096">
                  <a:extLst>
                    <a:ext uri="{9D8B030D-6E8A-4147-A177-3AD203B41FA5}">
                      <a16:colId xmlns:a16="http://schemas.microsoft.com/office/drawing/2014/main" val="1215257871"/>
                    </a:ext>
                  </a:extLst>
                </a:gridCol>
                <a:gridCol w="512840">
                  <a:extLst>
                    <a:ext uri="{9D8B030D-6E8A-4147-A177-3AD203B41FA5}">
                      <a16:colId xmlns:a16="http://schemas.microsoft.com/office/drawing/2014/main" val="1990473836"/>
                    </a:ext>
                  </a:extLst>
                </a:gridCol>
                <a:gridCol w="502375">
                  <a:extLst>
                    <a:ext uri="{9D8B030D-6E8A-4147-A177-3AD203B41FA5}">
                      <a16:colId xmlns:a16="http://schemas.microsoft.com/office/drawing/2014/main" val="3769966372"/>
                    </a:ext>
                  </a:extLst>
                </a:gridCol>
                <a:gridCol w="795427">
                  <a:extLst>
                    <a:ext uri="{9D8B030D-6E8A-4147-A177-3AD203B41FA5}">
                      <a16:colId xmlns:a16="http://schemas.microsoft.com/office/drawing/2014/main" val="619952855"/>
                    </a:ext>
                  </a:extLst>
                </a:gridCol>
                <a:gridCol w="512840">
                  <a:extLst>
                    <a:ext uri="{9D8B030D-6E8A-4147-A177-3AD203B41FA5}">
                      <a16:colId xmlns:a16="http://schemas.microsoft.com/office/drawing/2014/main" val="846491475"/>
                    </a:ext>
                  </a:extLst>
                </a:gridCol>
                <a:gridCol w="502375">
                  <a:extLst>
                    <a:ext uri="{9D8B030D-6E8A-4147-A177-3AD203B41FA5}">
                      <a16:colId xmlns:a16="http://schemas.microsoft.com/office/drawing/2014/main" val="862909927"/>
                    </a:ext>
                  </a:extLst>
                </a:gridCol>
                <a:gridCol w="450044">
                  <a:extLst>
                    <a:ext uri="{9D8B030D-6E8A-4147-A177-3AD203B41FA5}">
                      <a16:colId xmlns:a16="http://schemas.microsoft.com/office/drawing/2014/main" val="2160067498"/>
                    </a:ext>
                  </a:extLst>
                </a:gridCol>
                <a:gridCol w="816359">
                  <a:extLst>
                    <a:ext uri="{9D8B030D-6E8A-4147-A177-3AD203B41FA5}">
                      <a16:colId xmlns:a16="http://schemas.microsoft.com/office/drawing/2014/main" val="2287935157"/>
                    </a:ext>
                  </a:extLst>
                </a:gridCol>
                <a:gridCol w="502375">
                  <a:extLst>
                    <a:ext uri="{9D8B030D-6E8A-4147-A177-3AD203B41FA5}">
                      <a16:colId xmlns:a16="http://schemas.microsoft.com/office/drawing/2014/main" val="1897558182"/>
                    </a:ext>
                  </a:extLst>
                </a:gridCol>
                <a:gridCol w="512840">
                  <a:extLst>
                    <a:ext uri="{9D8B030D-6E8A-4147-A177-3AD203B41FA5}">
                      <a16:colId xmlns:a16="http://schemas.microsoft.com/office/drawing/2014/main" val="3693179734"/>
                    </a:ext>
                  </a:extLst>
                </a:gridCol>
                <a:gridCol w="575637">
                  <a:extLst>
                    <a:ext uri="{9D8B030D-6E8A-4147-A177-3AD203B41FA5}">
                      <a16:colId xmlns:a16="http://schemas.microsoft.com/office/drawing/2014/main" val="714548054"/>
                    </a:ext>
                  </a:extLst>
                </a:gridCol>
                <a:gridCol w="858223">
                  <a:extLst>
                    <a:ext uri="{9D8B030D-6E8A-4147-A177-3AD203B41FA5}">
                      <a16:colId xmlns:a16="http://schemas.microsoft.com/office/drawing/2014/main" val="3509371451"/>
                    </a:ext>
                  </a:extLst>
                </a:gridCol>
                <a:gridCol w="743096">
                  <a:extLst>
                    <a:ext uri="{9D8B030D-6E8A-4147-A177-3AD203B41FA5}">
                      <a16:colId xmlns:a16="http://schemas.microsoft.com/office/drawing/2014/main" val="699558056"/>
                    </a:ext>
                  </a:extLst>
                </a:gridCol>
                <a:gridCol w="512840">
                  <a:extLst>
                    <a:ext uri="{9D8B030D-6E8A-4147-A177-3AD203B41FA5}">
                      <a16:colId xmlns:a16="http://schemas.microsoft.com/office/drawing/2014/main" val="740204046"/>
                    </a:ext>
                  </a:extLst>
                </a:gridCol>
                <a:gridCol w="450044">
                  <a:extLst>
                    <a:ext uri="{9D8B030D-6E8A-4147-A177-3AD203B41FA5}">
                      <a16:colId xmlns:a16="http://schemas.microsoft.com/office/drawing/2014/main" val="1312122193"/>
                    </a:ext>
                  </a:extLst>
                </a:gridCol>
                <a:gridCol w="753562">
                  <a:extLst>
                    <a:ext uri="{9D8B030D-6E8A-4147-A177-3AD203B41FA5}">
                      <a16:colId xmlns:a16="http://schemas.microsoft.com/office/drawing/2014/main" val="2561183682"/>
                    </a:ext>
                  </a:extLst>
                </a:gridCol>
                <a:gridCol w="502375">
                  <a:extLst>
                    <a:ext uri="{9D8B030D-6E8A-4147-A177-3AD203B41FA5}">
                      <a16:colId xmlns:a16="http://schemas.microsoft.com/office/drawing/2014/main" val="3326603292"/>
                    </a:ext>
                  </a:extLst>
                </a:gridCol>
                <a:gridCol w="502375">
                  <a:extLst>
                    <a:ext uri="{9D8B030D-6E8A-4147-A177-3AD203B41FA5}">
                      <a16:colId xmlns:a16="http://schemas.microsoft.com/office/drawing/2014/main" val="1095934653"/>
                    </a:ext>
                  </a:extLst>
                </a:gridCol>
              </a:tblGrid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7832322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561546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Р3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489351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827492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Р3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503702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Р4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195737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median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605233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Р3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median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817492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Р4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5828979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09.02.2025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09.02.2025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8976735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median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45613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5802" marR="5802" marT="58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802" marR="5802" marT="58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median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560890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289183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Wind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802" marR="5802" marT="58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625281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408497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02" marR="5802" marT="58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768167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02" marR="5802" marT="58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863872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Р3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02" marR="5802" marT="58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067392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02" marR="5802" marT="58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423816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Р3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02" marR="5802" marT="58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835570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Р4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02" marR="5802" marT="58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323580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02" marR="5802" marT="58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030057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Р3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02" marR="5802" marT="58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0846166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Р4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02" marR="5802" marT="58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158169"/>
                  </a:ext>
                </a:extLst>
              </a:tr>
              <a:tr h="2013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09.02.2025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02" marR="5802" marT="58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02" marR="5802" marT="58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752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93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A9F68612-78F3-4F8E-AE91-2514CBB6FD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851425"/>
              </a:xfrm>
            </p:spPr>
            <p:txBody>
              <a:bodyPr/>
              <a:lstStyle/>
              <a:p>
                <a:pPr algn="ctr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Поиск множителя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A9F68612-78F3-4F8E-AE91-2514CBB6FD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851425"/>
              </a:xfrm>
              <a:blipFill>
                <a:blip r:embed="rId2"/>
                <a:stretch>
                  <a:fillRect t="-12857" b="-2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FBA9ACE-326A-424C-B25C-C99D04F33D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4" y="1558456"/>
                <a:ext cx="10781306" cy="4618507"/>
              </a:xfrm>
            </p:spPr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находить величины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без разбиения на бренды и окна, то есть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𝑜𝑡𝑠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𝑜𝑡𝑠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есть множество окон содержит один элемент, состоящий из всех дней с ненулевой активностью респондентов в этой категории</a:t>
                </a:r>
              </a:p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Остальные действия выполняются по аналогии с общим алгоритмом.</a:t>
                </a:r>
              </a:p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Величины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и, как следствие, число выбросов, зависят от параметра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Подбираем, решая уравнение, такое значение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котором суммарный OTS всех брендов категории уменьшается не более чем на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2,5%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относительно этой величины OTS без удаления выбросов. Тем самым, параметр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будет определен.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FBA9ACE-326A-424C-B25C-C99D04F33D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4" y="1558456"/>
                <a:ext cx="10781306" cy="4618507"/>
              </a:xfrm>
              <a:blipFill>
                <a:blip r:embed="rId3"/>
                <a:stretch>
                  <a:fillRect l="-1018" t="-2114" r="-10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046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80CFA-BBC3-4BD2-97C5-95684C959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055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на данных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февраль 2025)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OTS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примере бренда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D08EE3-44A8-4633-B512-299B59517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83CC8EB-455D-482B-99C3-71E19AD4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330" y="1756746"/>
            <a:ext cx="9687339" cy="448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88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80CFA-BBC3-4BD2-97C5-95684C959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466"/>
            <a:ext cx="10515600" cy="114625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на данных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январь 2025)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№1. Смартфоны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“google pixel”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2EBB3C0-906B-4990-ADC8-BE7B2834F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99565"/>
            <a:ext cx="5577925" cy="2584801"/>
          </a:xfrm>
          <a:prstGeom prst="rect">
            <a:avLst/>
          </a:prstGeo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0B89117C-59D3-40D0-8D3F-A15BC062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423" y="4301655"/>
            <a:ext cx="4667416" cy="20581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1: аномальная активность одного респондента не влияет на общие тренды. Медианный метод считает респондента 7277824811882339072 «обычным» и не удаляет его активность в январе несмотря на то, что он делает 18% от всех запросов по данному бренду.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2623D45-9768-4F09-9BC7-6FFEB28BA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48" y="1545189"/>
            <a:ext cx="5947577" cy="223959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7961BD-A208-4A8F-9130-BB3636FF5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103" y="1545189"/>
            <a:ext cx="3790121" cy="222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74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80CFA-BBC3-4BD2-97C5-95684C959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92"/>
            <a:ext cx="10515600" cy="132055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на данных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февраль 2025)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№2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Одежда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“sela”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3DA903-5B79-4F38-A803-75FA581E0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04" y="2064067"/>
            <a:ext cx="6841520" cy="147052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1B10D61-2E5A-48BF-87B9-31C31554E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496" y="4169735"/>
            <a:ext cx="6103165" cy="2008429"/>
          </a:xfrm>
          <a:prstGeom prst="rect">
            <a:avLst/>
          </a:prstGeom>
        </p:spPr>
      </p:pic>
      <p:sp>
        <p:nvSpPr>
          <p:cNvPr id="15" name="Объект 14">
            <a:extLst>
              <a:ext uri="{FF2B5EF4-FFF2-40B4-BE49-F238E27FC236}">
                <a16:creationId xmlns:a16="http://schemas.microsoft.com/office/drawing/2014/main" id="{C0C46C00-A516-4BDA-ADD2-EB0901657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949" y="4301657"/>
            <a:ext cx="4425563" cy="18765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2: поведение отдельного респондента существенно влияет на динамику бренда. Медианный метод считает респондента 1882516134850618573 «аномальным» в конкретный день февраля (9 февраля) и удаляет его активность в этот день.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9BF6C7-0074-4BD4-B03A-EE5887C6D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642" y="1511499"/>
            <a:ext cx="3951797" cy="235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983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80CFA-BBC3-4BD2-97C5-95684C959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055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на данных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февраль 2025)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OTS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всем активностям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0B25FABA-D65F-4F87-B173-070F550F7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77" y="1685677"/>
            <a:ext cx="8395646" cy="4893227"/>
          </a:xfrm>
        </p:spPr>
      </p:pic>
    </p:spTree>
    <p:extLst>
      <p:ext uri="{BB962C8B-B14F-4D97-AF65-F5344CB8AC3E}">
        <p14:creationId xmlns:p14="http://schemas.microsoft.com/office/powerpoint/2010/main" val="835041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80CFA-BBC3-4BD2-97C5-95684C959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666"/>
            <a:ext cx="10515600" cy="132055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на данных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февраль 2025)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каждой категории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8C6D9D-A672-4E01-8677-1C0C732B2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E58DAC-EFFC-45E6-9732-6B9B0EB04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415" y="1572218"/>
            <a:ext cx="7701170" cy="513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96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80CFA-BBC3-4BD2-97C5-95684C959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666"/>
            <a:ext cx="10515600" cy="132055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на данных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февраль 2025)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аномалий в день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7F9A70F-D3F6-4933-AA16-821185537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94" y="1778662"/>
            <a:ext cx="11047012" cy="368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35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ECC1E-39D0-4F84-8FA0-B53827E89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2499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алгоритма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576BDB2-4A24-4DE3-854A-B5FDC11749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0261"/>
                <a:ext cx="10515600" cy="4586702"/>
              </a:xfrm>
            </p:spPr>
            <p:txBody>
              <a:bodyPr/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работы алгоритма в такой формулировке требуется до 5 дней данных после последнего дня рассматриваемого периода. Возможность поставки таких данных заказчиком допускается. 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Возможно скорректировать условие признания наблюдения выбросов для крайних дней периода —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&lt;−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𝑊𝑖𝑛𝑑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изменив ограничение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𝑊𝑖𝑛𝑑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Также можно изменить условие на уменьшение суммарного OTS всех брендов категории при определении параметра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576BDB2-4A24-4DE3-854A-B5FDC1174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0261"/>
                <a:ext cx="10515600" cy="4586702"/>
              </a:xfrm>
              <a:blipFill>
                <a:blip r:embed="rId2"/>
                <a:stretch>
                  <a:fillRect l="-1043" t="-2394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439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2EF260-011E-4644-AFD0-EC4B76496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2256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Будущие вопросы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1C467A9-0934-40DC-A87D-B47B76A188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53871"/>
                <a:ext cx="10515600" cy="452309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 не может обнаружить выброс на данных длиннее, чем ширина окна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Требуется до 5 дней данных после последнего дня рассматриваемого периода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Нет привязки алгоритма к пересекающимся респондентам между разными категориями, из-за чего в некоторых категориях может сильно уменьшиться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OTS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Сложно выявить «регулярные» аномалии, когда респондент проявляет аномальную активность длительное время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 чувствителен к выбору подходящего множителя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ширины окна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1C467A9-0934-40DC-A87D-B47B76A18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53871"/>
                <a:ext cx="10515600" cy="4523092"/>
              </a:xfrm>
              <a:blipFill>
                <a:blip r:embed="rId2"/>
                <a:stretch>
                  <a:fillRect l="-1043" t="-3235" r="-580" b="-1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0082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1236</Words>
  <Application>Microsoft Office PowerPoint</Application>
  <PresentationFormat>Широкоэкранный</PresentationFormat>
  <Paragraphs>330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Тема Office</vt:lpstr>
      <vt:lpstr>Поиск выбросов в значениях OTS E-com брендов в произвольной отчетной категории проекта SoS</vt:lpstr>
      <vt:lpstr>Описание</vt:lpstr>
      <vt:lpstr>Медианный метод</vt:lpstr>
      <vt:lpstr>Иллюстрация медианного метода</vt:lpstr>
      <vt:lpstr>Обозначения</vt:lpstr>
      <vt:lpstr>Условия значимости бренда</vt:lpstr>
      <vt:lpstr>Математическое описание алгоритма</vt:lpstr>
      <vt:lpstr>Пример работы алгоритма на данных</vt:lpstr>
      <vt:lpstr>Поиск множителя τ</vt:lpstr>
      <vt:lpstr>Результаты на данных E-com (февраль 2025) Изменение OTS на примере бренда “realme”</vt:lpstr>
      <vt:lpstr>Результаты на данных E-com (январь 2025) Кейс №1. Смартфоны “google pixel”</vt:lpstr>
      <vt:lpstr>Результаты на данных E-com (февраль 2025) Кейс №2. Одежда “sela”</vt:lpstr>
      <vt:lpstr>Результаты на данных E-com (февраль 2025) Изменение OTS по всем активностям</vt:lpstr>
      <vt:lpstr>Результаты на данных E-com (февраль 2025) Изменение OTS в каждой категории</vt:lpstr>
      <vt:lpstr>Результаты на данных E-com (февраль 2025) Количество аномалий в день</vt:lpstr>
      <vt:lpstr>Особенности алгоритма</vt:lpstr>
      <vt:lpstr>Будущие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Поиск выбросов в значениях OTS E-com брендов в произвольной отчетной категории проекта SoS</dc:title>
  <dc:creator>Дмитрий Кузовчиков</dc:creator>
  <cp:lastModifiedBy>Дмитрий Кузовчиков</cp:lastModifiedBy>
  <cp:revision>32</cp:revision>
  <dcterms:created xsi:type="dcterms:W3CDTF">2025-05-30T06:30:48Z</dcterms:created>
  <dcterms:modified xsi:type="dcterms:W3CDTF">2026-03-03T17:49:49Z</dcterms:modified>
</cp:coreProperties>
</file>